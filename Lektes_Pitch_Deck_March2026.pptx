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rot="2700000">
            <a:off x="7132320" y="-457200"/>
            <a:ext cx="1280160" cy="1280160"/>
          </a:xfrm>
          <a:prstGeom prst="rect">
            <a:avLst/>
          </a:prstGeom>
          <a:solidFill>
            <a:srgbClr val="2D7A4F">
              <a:alpha val="30000"/>
            </a:srgbClr>
          </a:solidFill>
          <a:ln w="12700">
            <a:solidFill>
              <a:srgbClr val="2D7A4F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rot="2700000">
            <a:off x="7863840" y="365760"/>
            <a:ext cx="822960" cy="822960"/>
          </a:xfrm>
          <a:prstGeom prst="rect">
            <a:avLst/>
          </a:prstGeom>
          <a:solidFill>
            <a:srgbClr val="38A169">
              <a:alpha val="45000"/>
            </a:srgbClr>
          </a:solidFill>
          <a:ln w="12700">
            <a:solidFill>
              <a:srgbClr val="38A169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rot="2700000">
            <a:off x="7498080" y="3474720"/>
            <a:ext cx="1463040" cy="1463040"/>
          </a:xfrm>
          <a:prstGeom prst="rect">
            <a:avLst/>
          </a:prstGeom>
          <a:solidFill>
            <a:srgbClr val="142214"/>
          </a:solidFill>
          <a:ln w="12700">
            <a:solidFill>
              <a:srgbClr val="142214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rot="2700000">
            <a:off x="502920" y="502920"/>
            <a:ext cx="502920" cy="502920"/>
          </a:xfrm>
          <a:prstGeom prst="rect">
            <a:avLst>
              <a:gd name="adj" fmla="val 10909"/>
            </a:avLst>
          </a:prstGeom>
          <a:solidFill>
            <a:srgbClr val="38A16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234440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C9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POWERED BY GROQ AI  ·  NIMBUS-24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118872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the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02920" y="1783080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38A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right person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502920" y="242316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every role.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502920" y="32461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CV screening, profile verification &amp; ranked shortlists — in minutes.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3749040"/>
            <a:ext cx="3200400" cy="0"/>
          </a:xfrm>
          <a:prstGeom prst="line">
            <a:avLst/>
          </a:prstGeom>
          <a:noFill/>
          <a:ln w="19050">
            <a:solidFill>
              <a:srgbClr val="C9A96E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02920" y="3931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lektes.nimbus-24.com</a:t>
            </a:r>
            <a:pPr indent="0" marL="0">
              <a:buNone/>
            </a:pPr>
            <a:r>
              <a:rPr lang="en-US" sz="11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 ·    March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2E1A"/>
          </a:solidFill>
          <a:ln w="12700">
            <a:solidFill>
              <a:srgbClr val="1A2E1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rot="2700000">
            <a:off x="320040" y="320040"/>
            <a:ext cx="384048" cy="384048"/>
          </a:xfrm>
          <a:prstGeom prst="rect">
            <a:avLst>
              <a:gd name="adj" fmla="val 14286"/>
            </a:avLst>
          </a:prstGeom>
          <a:solidFill>
            <a:srgbClr val="38A16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74320" y="100584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74320" y="26060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Hiring is broken.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Screening shouldn't take days.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749040" y="502920"/>
            <a:ext cx="23774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749040" y="502920"/>
            <a:ext cx="2377440" cy="54864"/>
          </a:xfrm>
          <a:prstGeom prst="rect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913632" y="7040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407408" y="66751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7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 days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913632" y="1252728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6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average time to fill a role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55080" y="502920"/>
            <a:ext cx="23774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355080" y="502920"/>
            <a:ext cx="2377440" cy="54864"/>
          </a:xfrm>
          <a:prstGeom prst="rect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519672" y="7040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013448" y="66751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7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250+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519672" y="1252728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6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CVs received per job posting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49040" y="2514600"/>
            <a:ext cx="23774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3749040" y="2514600"/>
            <a:ext cx="2377440" cy="54864"/>
          </a:xfrm>
          <a:prstGeom prst="rect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913632" y="27157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🕐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407408" y="26791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7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30–40h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913632" y="3264408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6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 week wasted on manual screening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55080" y="2514600"/>
            <a:ext cx="23774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355080" y="2514600"/>
            <a:ext cx="2377440" cy="54864"/>
          </a:xfrm>
          <a:prstGeom prst="rect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519672" y="27157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❌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013448" y="26791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7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74%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519672" y="3264408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6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 CVs rejected without a fair read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3EDE3"/>
          </a:solidFill>
          <a:ln w="12700">
            <a:solidFill>
              <a:srgbClr val="DDD5C4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6576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Talent</a:t>
            </a:r>
            <a:pPr indent="0" marL="0">
              <a:buNone/>
            </a:pPr>
            <a:r>
              <a:rPr lang="en-US" sz="1200" b="1" dirty="0">
                <a:solidFill>
                  <a:srgbClr val="2D7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0" y="4828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lektes.nimbus-24.com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0" y="320040"/>
            <a:ext cx="2194560" cy="256032"/>
          </a:xfrm>
          <a:prstGeom prst="roundRect">
            <a:avLst>
              <a:gd name="adj" fmla="val 50000"/>
            </a:avLst>
          </a:prstGeom>
          <a:solidFill>
            <a:srgbClr val="38A169">
              <a:alpha val="20000"/>
            </a:srgbClr>
          </a:solidFill>
          <a:ln w="6350">
            <a:solidFill>
              <a:srgbClr val="38A169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320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38A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LEKTES?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another ATS.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screening layer that reads every CV for you.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1993392"/>
            <a:ext cx="2697480" cy="2423160"/>
          </a:xfrm>
          <a:prstGeom prst="rect">
            <a:avLst/>
          </a:prstGeom>
          <a:solidFill>
            <a:srgbClr val="142214"/>
          </a:solidFill>
          <a:ln w="9525">
            <a:solidFill>
              <a:srgbClr val="2D7A4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365760" y="1993392"/>
            <a:ext cx="54864" cy="242316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66928" y="21762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24688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Parse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66928" y="2980944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CV — PDFs, Word docs, even Canva-designed image-based resumes — extracted with three-tier AI parsing.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993392"/>
            <a:ext cx="2697480" cy="2423160"/>
          </a:xfrm>
          <a:prstGeom prst="rect">
            <a:avLst/>
          </a:prstGeom>
          <a:solidFill>
            <a:srgbClr val="142214"/>
          </a:solidFill>
          <a:ln w="9525">
            <a:solidFill>
              <a:srgbClr val="2D7A4F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246120" y="1993392"/>
            <a:ext cx="54864" cy="242316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447288" y="21762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47288" y="24688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447288" y="2980944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Each candidate scored 0–100 against your job requirements, with transferable skills equivalency built in.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993392"/>
            <a:ext cx="2697480" cy="2423160"/>
          </a:xfrm>
          <a:prstGeom prst="rect">
            <a:avLst/>
          </a:prstGeom>
          <a:solidFill>
            <a:srgbClr val="142214"/>
          </a:solidFill>
          <a:ln w="9525">
            <a:solidFill>
              <a:srgbClr val="2D7A4F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126480" y="1993392"/>
            <a:ext cx="54864" cy="242316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327648" y="21762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27648" y="24688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Verify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327648" y="2980944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cross-checks against LinkedIn, GitHub, Kaggle and StackOverflow — validates what candidates claim.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2214"/>
          </a:solidFill>
          <a:ln w="12700">
            <a:solidFill>
              <a:srgbClr val="142214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6576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Talent</a:t>
            </a:r>
            <a:pPr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0" y="4828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lektes.nimbus-24.com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38A169">
              <a:alpha val="15000"/>
            </a:srgbClr>
          </a:solidFill>
          <a:ln w="6350">
            <a:solidFill>
              <a:srgbClr val="38A16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926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D7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job posting to ranked shortlist in minutes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1938528" cy="3127248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69848" y="1618488"/>
            <a:ext cx="621792" cy="621792"/>
          </a:xfrm>
          <a:prstGeom prst="ellipse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69848" y="161848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78408" y="2404872"/>
            <a:ext cx="804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" y="301752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 Details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429000"/>
            <a:ext cx="17556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6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Paste any job ad or fill manually. AI extracts role, required skills &amp; experience.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68296" y="1920240"/>
            <a:ext cx="146304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359152" y="1746504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96E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532888" y="1417320"/>
            <a:ext cx="1938528" cy="3127248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191256" y="1618488"/>
            <a:ext cx="621792" cy="621792"/>
          </a:xfrm>
          <a:prstGeom prst="ellipse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191256" y="161848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099816" y="2404872"/>
            <a:ext cx="804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📂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624328" y="301752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 CVs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24328" y="3429000"/>
            <a:ext cx="17556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6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Drop up to 20 CVs at once — PDFs, DOCX, or image-based Canva resumes.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89704" y="1920240"/>
            <a:ext cx="146304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480560" y="1746504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96E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654296" y="1417320"/>
            <a:ext cx="1938528" cy="3127248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5312664" y="1618488"/>
            <a:ext cx="621792" cy="621792"/>
          </a:xfrm>
          <a:prstGeom prst="ellipse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312664" y="161848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221224" y="2404872"/>
            <a:ext cx="804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745736" y="301752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Screening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45736" y="3429000"/>
            <a:ext cx="17556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6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LangGraph pipeline parses, scores with Groq Llama 3.3, verifies profiles.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611112" y="1920240"/>
            <a:ext cx="146304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601968" y="1746504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96E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775704" y="1417320"/>
            <a:ext cx="1938528" cy="3127248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7434072" y="1618488"/>
            <a:ext cx="621792" cy="621792"/>
          </a:xfrm>
          <a:prstGeom prst="ellipse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434072" y="161848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342632" y="2404872"/>
            <a:ext cx="804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🏆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867144" y="301752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Ranked Results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67144" y="3429000"/>
            <a:ext cx="17556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6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candidates ranked with scores, pros/cons and a PDF report to your HR inbox.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3EDE3"/>
          </a:solidFill>
          <a:ln w="12700">
            <a:solidFill>
              <a:srgbClr val="DDD5C4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36576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Talent</a:t>
            </a:r>
            <a:pPr indent="0" marL="0">
              <a:buNone/>
            </a:pPr>
            <a:r>
              <a:rPr lang="en-US" sz="1200" b="1" dirty="0">
                <a:solidFill>
                  <a:srgbClr val="2D7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Mesh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943600" y="4828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lektes.nimbus-24.com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38A169">
              <a:alpha val="15000"/>
            </a:srgbClr>
          </a:solidFill>
          <a:ln w="6350">
            <a:solidFill>
              <a:srgbClr val="38A16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D7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FEATURES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a hiring manager needs to screen smarter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84048" y="1298448"/>
            <a:ext cx="4041648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48640" y="1463040"/>
            <a:ext cx="347472" cy="347472"/>
          </a:xfrm>
          <a:prstGeom prst="ellipse">
            <a:avLst/>
          </a:prstGeom>
          <a:solidFill>
            <a:srgbClr val="38A169">
              <a:alpha val="20000"/>
            </a:srgbClr>
          </a:solidFill>
          <a:ln w="12700">
            <a:solidFill>
              <a:srgbClr val="38A169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🤖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78408" y="1463040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Match Scoring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90195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6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0–100 score per candidate with justification — strengths, gaps, and transferable skills in plain English.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0016" y="1298448"/>
            <a:ext cx="4041648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864608" y="1463040"/>
            <a:ext cx="347472" cy="347472"/>
          </a:xfrm>
          <a:prstGeom prst="ellipse">
            <a:avLst/>
          </a:prstGeom>
          <a:solidFill>
            <a:srgbClr val="38A169">
              <a:alpha val="20000"/>
            </a:srgbClr>
          </a:solidFill>
          <a:ln w="12700">
            <a:solidFill>
              <a:srgbClr val="38A169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864608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🔗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94376" y="1463040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Profile Verification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64608" y="190195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6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checks on LinkedIn URL, GitHub contributions, Kaggle tiers and StackOverflow reputation.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84048" y="2414016"/>
            <a:ext cx="4041648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48640" y="2578608"/>
            <a:ext cx="347472" cy="347472"/>
          </a:xfrm>
          <a:prstGeom prst="ellipse">
            <a:avLst/>
          </a:prstGeom>
          <a:solidFill>
            <a:srgbClr val="38A169">
              <a:alpha val="20000"/>
            </a:srgbClr>
          </a:solidFill>
          <a:ln w="12700">
            <a:solidFill>
              <a:srgbClr val="38A169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2578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📄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78408" y="2578608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3-Tier CV Parsing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0175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6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PyMuPDF → pdfplumber → Groq Vision OCR. Handles any format including Canva and image-only PDFs.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0016" y="2414016"/>
            <a:ext cx="4041648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864608" y="2578608"/>
            <a:ext cx="347472" cy="347472"/>
          </a:xfrm>
          <a:prstGeom prst="ellipse">
            <a:avLst/>
          </a:prstGeom>
          <a:solidFill>
            <a:srgbClr val="38A169">
              <a:alpha val="20000"/>
            </a:srgbClr>
          </a:solidFill>
          <a:ln w="12700">
            <a:solidFill>
              <a:srgbClr val="38A169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864608" y="2578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94376" y="2578608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Head-to-Head Comparison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64608" y="30175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6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Gold, silver, bronze top-3 with a side-by-side breakdown. Know who to interview first.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84048" y="3529584"/>
            <a:ext cx="4041648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548640" y="3694176"/>
            <a:ext cx="347472" cy="347472"/>
          </a:xfrm>
          <a:prstGeom prst="ellipse">
            <a:avLst/>
          </a:prstGeom>
          <a:solidFill>
            <a:srgbClr val="38A169">
              <a:alpha val="20000"/>
            </a:srgbClr>
          </a:solidFill>
          <a:ln w="12700">
            <a:solidFill>
              <a:srgbClr val="38A169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48640" y="3694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78408" y="3694176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Instant Job Extraction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413308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6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Paste any job posting from LinkedIn or any board. AI extracts title, skills and requirements automatically.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00016" y="3529584"/>
            <a:ext cx="4041648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4864608" y="3694176"/>
            <a:ext cx="347472" cy="347472"/>
          </a:xfrm>
          <a:prstGeom prst="ellipse">
            <a:avLst/>
          </a:prstGeom>
          <a:solidFill>
            <a:srgbClr val="38A169">
              <a:alpha val="20000"/>
            </a:srgbClr>
          </a:solidFill>
          <a:ln w="12700">
            <a:solidFill>
              <a:srgbClr val="38A169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864608" y="3694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📧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294376" y="3694176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PDF Report by Email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64608" y="413308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6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Branded PDF report delivered to HR inbox the moment screening completes — share-ready instantly.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3EDE3"/>
          </a:solidFill>
          <a:ln w="12700">
            <a:solidFill>
              <a:srgbClr val="DDD5C4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36576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Talent</a:t>
            </a:r>
            <a:pPr indent="0" marL="0">
              <a:buNone/>
            </a:pPr>
            <a:r>
              <a:rPr lang="en-US" sz="1200" b="1" dirty="0">
                <a:solidFill>
                  <a:srgbClr val="2D7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Mesh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943600" y="4828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lektes.nimbus-24.com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0" y="292608"/>
            <a:ext cx="1828800" cy="256032"/>
          </a:xfrm>
          <a:prstGeom prst="roundRect">
            <a:avLst>
              <a:gd name="adj" fmla="val 50000"/>
            </a:avLst>
          </a:prstGeom>
          <a:solidFill>
            <a:srgbClr val="C9A96E">
              <a:alpha val="20000"/>
            </a:srgbClr>
          </a:solidFill>
          <a:ln w="6350">
            <a:solidFill>
              <a:srgbClr val="C9A96E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292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C9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on a production-grade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AI foundation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84048" y="1810512"/>
            <a:ext cx="4160520" cy="777240"/>
          </a:xfrm>
          <a:prstGeom prst="rect">
            <a:avLst/>
          </a:prstGeom>
          <a:solidFill>
            <a:srgbClr val="142214"/>
          </a:solidFill>
          <a:ln w="6350">
            <a:solidFill>
              <a:srgbClr val="2D7A4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84048" y="1810512"/>
            <a:ext cx="54864" cy="77724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8640" y="19019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9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Engine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48640" y="21214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Groq · Llama 3.3 70B · Vision OCR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3408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Sub-second inference, image CV fallback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46320" y="1810512"/>
            <a:ext cx="4160520" cy="777240"/>
          </a:xfrm>
          <a:prstGeom prst="rect">
            <a:avLst/>
          </a:prstGeom>
          <a:solidFill>
            <a:srgbClr val="142214"/>
          </a:solidFill>
          <a:ln w="6350">
            <a:solidFill>
              <a:srgbClr val="2D7A4F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846320" y="1810512"/>
            <a:ext cx="54864" cy="77724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010912" y="19019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9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Pipeline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10912" y="21214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LangGraph StateGraph · 4-node typed workflow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10912" y="23408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Structured multi-step reasoning foundation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" y="2724912"/>
            <a:ext cx="4160520" cy="777240"/>
          </a:xfrm>
          <a:prstGeom prst="rect">
            <a:avLst/>
          </a:prstGeom>
          <a:solidFill>
            <a:srgbClr val="142214"/>
          </a:solidFill>
          <a:ln w="6350">
            <a:solidFill>
              <a:srgbClr val="2D7A4F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384048" y="2724912"/>
            <a:ext cx="54864" cy="77724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48640" y="28163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9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API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48640" y="30358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FastAPI · Python 3.12 · SQLite → PostgreSQL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2552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 + async, Render cloud deployed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46320" y="2724912"/>
            <a:ext cx="4160520" cy="777240"/>
          </a:xfrm>
          <a:prstGeom prst="rect">
            <a:avLst/>
          </a:prstGeom>
          <a:solidFill>
            <a:srgbClr val="142214"/>
          </a:solidFill>
          <a:ln w="6350">
            <a:solidFill>
              <a:srgbClr val="2D7A4F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846320" y="2724912"/>
            <a:ext cx="54864" cy="77724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010912" y="28163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9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Profile Checks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10912" y="30358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API · Kaggle · StackOverflow · LinkedIn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10912" y="32552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cross-verification at screening time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84048" y="3639312"/>
            <a:ext cx="4160520" cy="777240"/>
          </a:xfrm>
          <a:prstGeom prst="rect">
            <a:avLst/>
          </a:prstGeom>
          <a:solidFill>
            <a:srgbClr val="142214"/>
          </a:solidFill>
          <a:ln w="6350">
            <a:solidFill>
              <a:srgbClr val="2D7A4F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384048" y="3639312"/>
            <a:ext cx="54864" cy="77724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48640" y="37307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9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Email &amp; Reports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48640" y="39502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Resend API · reportlab PDF generator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41696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Branded PDF delivered to HR inbox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46320" y="3639312"/>
            <a:ext cx="4160520" cy="777240"/>
          </a:xfrm>
          <a:prstGeom prst="rect">
            <a:avLst/>
          </a:prstGeom>
          <a:solidFill>
            <a:srgbClr val="142214"/>
          </a:solidFill>
          <a:ln w="6350">
            <a:solidFill>
              <a:srgbClr val="2D7A4F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4846320" y="3639312"/>
            <a:ext cx="54864" cy="77724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010912" y="37307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9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010912" y="39502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Vanilla JS · CSS variables · Dark mode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10912" y="41696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framework — fast, zero-dependency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2214"/>
          </a:solidFill>
          <a:ln w="12700">
            <a:solidFill>
              <a:srgbClr val="142214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36576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Talent</a:t>
            </a:r>
            <a:pPr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Mesh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943600" y="4828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lektes.nimbus-24.com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38A169">
              <a:alpha val="15000"/>
            </a:srgbClr>
          </a:solidFill>
          <a:ln w="6350">
            <a:solidFill>
              <a:srgbClr val="38A16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D7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DIFFERENTIATION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Lektes — not an ATS, not Skima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84048" y="1234440"/>
            <a:ext cx="4114800" cy="3337560"/>
          </a:xfrm>
          <a:prstGeom prst="rect">
            <a:avLst/>
          </a:prstGeom>
          <a:solidFill>
            <a:srgbClr val="E8F5EE"/>
          </a:solidFill>
          <a:ln w="12700">
            <a:solidFill>
              <a:srgbClr val="C6E8D4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84048" y="1261872"/>
            <a:ext cx="4114800" cy="54864"/>
          </a:xfrm>
          <a:prstGeom prst="rect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30352" y="137160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Lektes wins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755648"/>
            <a:ext cx="382219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B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Works in 2 minutes — no sales call, no setup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B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Free to start — accessible to any team or startup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B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🔗  Live profile verification across 4 platforms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B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Transferable skills matching catches hidden talent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B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📄  Handles Canva / image-based CVs via Vision OCR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B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👤  Built for hiring managers, not just recruiters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0016" y="1261872"/>
            <a:ext cx="4059936" cy="32918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4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700016" y="1261872"/>
            <a:ext cx="4059936" cy="54864"/>
          </a:xfrm>
          <a:prstGeom prst="rect">
            <a:avLst/>
          </a:prstGeom>
          <a:solidFill>
            <a:srgbClr val="3A4A5A"/>
          </a:solidFill>
          <a:ln w="12700">
            <a:solidFill>
              <a:srgbClr val="3A4A5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828032" y="13716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4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Skima AI has that we're building toward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28032" y="1755648"/>
            <a:ext cx="382219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A5A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📨  Automated outreach campaigns (email / SMS)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A5A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🔌  130+ ATS / CRM integrations out-of-the-box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A5A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📈  Learns from historical hiring data over time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A5A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🏢  Enterprise on-premises deployment option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A5A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👥  Built for high-volume staffing agencies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3EDE3"/>
          </a:solidFill>
          <a:ln w="12700">
            <a:solidFill>
              <a:srgbClr val="DDD5C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6576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Talent</a:t>
            </a:r>
            <a:pPr indent="0" marL="0">
              <a:buNone/>
            </a:pPr>
            <a:r>
              <a:rPr lang="en-US" sz="1200" b="1" dirty="0">
                <a:solidFill>
                  <a:srgbClr val="2D7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0" y="4828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lektes.nimbus-24.com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0" y="292608"/>
            <a:ext cx="2286000" cy="256032"/>
          </a:xfrm>
          <a:prstGeom prst="roundRect">
            <a:avLst>
              <a:gd name="adj" fmla="val 50000"/>
            </a:avLst>
          </a:prstGeom>
          <a:solidFill>
            <a:srgbClr val="38A169">
              <a:alpha val="20000"/>
            </a:srgbClr>
          </a:solidFill>
          <a:ln w="6350">
            <a:solidFill>
              <a:srgbClr val="38A169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2926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38A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ROADMAP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Lektes is pre-agentic today.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the path to fully autonomous hiring.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719072"/>
            <a:ext cx="1993392" cy="2852928"/>
          </a:xfrm>
          <a:prstGeom prst="rect">
            <a:avLst/>
          </a:prstGeom>
          <a:solidFill>
            <a:srgbClr val="2D7A4F"/>
          </a:solidFill>
          <a:ln w="19050">
            <a:solidFill>
              <a:srgbClr val="38A169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75488" y="184708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 — MVP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" y="2249424"/>
            <a:ext cx="1280160" cy="219456"/>
          </a:xfrm>
          <a:prstGeom prst="roundRect">
            <a:avLst>
              <a:gd name="adj" fmla="val 50000"/>
            </a:avLst>
          </a:prstGeom>
          <a:solidFill>
            <a:srgbClr val="38A169"/>
          </a:solidFill>
          <a:ln w="6350">
            <a:solidFill>
              <a:srgbClr val="38A16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75488" y="224942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Built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75488" y="2633472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0EA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LangGraph 4-node pipeline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0EA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Multi-source tool calls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0EA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Linear flow, no branching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0EA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No memory between sessions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23744" y="1719072"/>
            <a:ext cx="1993392" cy="2852928"/>
          </a:xfrm>
          <a:prstGeom prst="rect">
            <a:avLst/>
          </a:prstGeom>
          <a:solidFill>
            <a:srgbClr val="142214"/>
          </a:solidFill>
          <a:ln w="9525">
            <a:solidFill>
              <a:srgbClr val="2D7A4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651760" y="184708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9E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— Decision Nodes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651760" y="2249424"/>
            <a:ext cx="1280160" cy="219456"/>
          </a:xfrm>
          <a:prstGeom prst="roundRect">
            <a:avLst>
              <a:gd name="adj" fmla="val 50000"/>
            </a:avLst>
          </a:prstGeom>
          <a:solidFill>
            <a:srgbClr val="1A2E1A">
              <a:alpha val="70000"/>
            </a:srgbClr>
          </a:solidFill>
          <a:ln w="6350">
            <a:solidFill>
              <a:srgbClr val="2D7A4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651760" y="224942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A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Post-funding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651760" y="2633472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Branching logic per CV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Retry on low-confidence parse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Dynamic scoring weight adjust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Conflict detection &amp; flagging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0016" y="1719072"/>
            <a:ext cx="1993392" cy="2852928"/>
          </a:xfrm>
          <a:prstGeom prst="rect">
            <a:avLst/>
          </a:prstGeom>
          <a:solidFill>
            <a:srgbClr val="142214"/>
          </a:solidFill>
          <a:ln w="9525">
            <a:solidFill>
              <a:srgbClr val="2D7A4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828032" y="184708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9E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 — Learning Agent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28032" y="2249424"/>
            <a:ext cx="1280160" cy="219456"/>
          </a:xfrm>
          <a:prstGeom prst="roundRect">
            <a:avLst>
              <a:gd name="adj" fmla="val 50000"/>
            </a:avLst>
          </a:prstGeom>
          <a:solidFill>
            <a:srgbClr val="1A2E1A">
              <a:alpha val="70000"/>
            </a:srgbClr>
          </a:solidFill>
          <a:ln w="6350">
            <a:solidFill>
              <a:srgbClr val="2D7A4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828032" y="224942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A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6–12 months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28032" y="2633472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HR feedback capture &amp; storage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Per-company weight calibration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Vector DB of past good hires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Embeddings similarity matching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76288" y="1719072"/>
            <a:ext cx="1993392" cy="2852928"/>
          </a:xfrm>
          <a:prstGeom prst="rect">
            <a:avLst/>
          </a:prstGeom>
          <a:solidFill>
            <a:srgbClr val="142214"/>
          </a:solidFill>
          <a:ln w="9525">
            <a:solidFill>
              <a:srgbClr val="2D7A4F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004304" y="184708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9E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4 — Full Autonomy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004304" y="2249424"/>
            <a:ext cx="1280160" cy="219456"/>
          </a:xfrm>
          <a:prstGeom prst="roundRect">
            <a:avLst>
              <a:gd name="adj" fmla="val 50000"/>
            </a:avLst>
          </a:prstGeom>
          <a:solidFill>
            <a:srgbClr val="1A2E1A">
              <a:alpha val="70000"/>
            </a:srgbClr>
          </a:solidFill>
          <a:ln w="6350">
            <a:solidFill>
              <a:srgbClr val="2D7A4F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004304" y="224942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A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 2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004304" y="2633472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Self-directed sourcing agent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Interview scheduling automation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Bias monitoring &amp; correction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Continuous learning loop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2214"/>
          </a:solidFill>
          <a:ln w="12700">
            <a:solidFill>
              <a:srgbClr val="142214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6576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Talent</a:t>
            </a:r>
            <a:pPr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0" y="4828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lektes.nimbus-24.com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38A169">
              <a:alpha val="15000"/>
            </a:srgbClr>
          </a:solidFill>
          <a:ln w="6350">
            <a:solidFill>
              <a:srgbClr val="38A16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D7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ROADMAP — GOOGLE FUNDING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Google's investment unlocks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84048" y="1298448"/>
            <a:ext cx="2706624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84048" y="1298448"/>
            <a:ext cx="2706624" cy="54864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12064" y="143560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956816" y="1463040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C9A96E">
              <a:alpha val="25000"/>
            </a:srgbClr>
          </a:solidFill>
          <a:ln w="6350">
            <a:solidFill>
              <a:srgbClr val="C9A96E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956816" y="14630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7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 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2064" y="1792224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Adaptive Learning Engine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2064" y="2066544"/>
            <a:ext cx="2450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A6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HR feedback loop → per-company scoring calibration → vector similarity against past successful hires.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91840" y="1298448"/>
            <a:ext cx="2706624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291840" y="1298448"/>
            <a:ext cx="2706624" cy="54864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419856" y="143560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📬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864608" y="1463040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C9A96E">
              <a:alpha val="25000"/>
            </a:srgbClr>
          </a:solidFill>
          <a:ln w="6350">
            <a:solidFill>
              <a:srgbClr val="C9A96E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864608" y="14630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7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 2026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19856" y="1792224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Candidate Outreach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19856" y="2066544"/>
            <a:ext cx="2450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A6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Automated personalised email + WhatsApp sequences triggered post-screening, keeping candidates engaged.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99632" y="1298448"/>
            <a:ext cx="2706624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199632" y="1298448"/>
            <a:ext cx="2706624" cy="54864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327648" y="143560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🔌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772400" y="1463040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C9A96E">
              <a:alpha val="25000"/>
            </a:srgbClr>
          </a:solidFill>
          <a:ln w="6350">
            <a:solidFill>
              <a:srgbClr val="C9A96E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772400" y="14630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7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 2026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327648" y="1792224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ATS / Job Portal Integrations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27648" y="2066544"/>
            <a:ext cx="2450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A6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Native plugins for Greenhouse, Lever, Workday. Webhook + REST API for any custom portal or HRIS.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84048" y="2871216"/>
            <a:ext cx="2706624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384048" y="2871216"/>
            <a:ext cx="2706624" cy="54864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12064" y="300837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956816" y="3035808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C9A96E">
              <a:alpha val="25000"/>
            </a:srgbClr>
          </a:solidFill>
          <a:ln w="6350">
            <a:solidFill>
              <a:srgbClr val="C9A96E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1956816" y="30358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7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 2026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12064" y="3364992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Interview Question Generator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2064" y="3639312"/>
            <a:ext cx="2450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A6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Tailored interview questions per candidate based on their CV gaps and verification findings.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91840" y="2871216"/>
            <a:ext cx="2706624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3291840" y="2871216"/>
            <a:ext cx="2706624" cy="54864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3419856" y="300837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4864608" y="3035808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C9A96E">
              <a:alpha val="25000"/>
            </a:srgbClr>
          </a:solidFill>
          <a:ln w="6350">
            <a:solidFill>
              <a:srgbClr val="C9A96E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4864608" y="30358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7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 2026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419856" y="3364992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Recruiter Analytics Dashboard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419856" y="3639312"/>
            <a:ext cx="2450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A6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metrics, time-to-hire, source quality tracking, bias monitoring, and team performance insights.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99632" y="2871216"/>
            <a:ext cx="2706624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6199632" y="2871216"/>
            <a:ext cx="2706624" cy="54864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6327648" y="300837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☁️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7772400" y="3035808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C9A96E">
              <a:alpha val="25000"/>
            </a:srgbClr>
          </a:solidFill>
          <a:ln w="6350">
            <a:solidFill>
              <a:srgbClr val="C9A96E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7772400" y="30358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7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 2026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327648" y="3364992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Scale + PostgreSQL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327648" y="3639312"/>
            <a:ext cx="2450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A6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Migrate from SQLite to managed PostgreSQL. Move from Render free tier to Google Cloud Run for scale.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3EDE3"/>
          </a:solidFill>
          <a:ln w="12700">
            <a:solidFill>
              <a:srgbClr val="DDD5C4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36576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Talent</a:t>
            </a:r>
            <a:pPr indent="0" marL="0">
              <a:buNone/>
            </a:pPr>
            <a:r>
              <a:rPr lang="en-US" sz="1200" b="1" dirty="0">
                <a:solidFill>
                  <a:srgbClr val="2D7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Mesh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943600" y="4828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lektes.nimbus-24.com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0" y="292608"/>
            <a:ext cx="2377440" cy="256032"/>
          </a:xfrm>
          <a:prstGeom prst="roundRect">
            <a:avLst>
              <a:gd name="adj" fmla="val 50000"/>
            </a:avLst>
          </a:prstGeom>
          <a:solidFill>
            <a:srgbClr val="C9A96E">
              <a:alpha val="20000"/>
            </a:srgbClr>
          </a:solidFill>
          <a:ln w="6350">
            <a:solidFill>
              <a:srgbClr val="C9A96E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2926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C9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MODEL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market ready for disruption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188366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499616"/>
            <a:ext cx="1700784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7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$26B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079346"/>
            <a:ext cx="1700784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ATS market by 2028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389888"/>
            <a:ext cx="188366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560320" y="1499616"/>
            <a:ext cx="1700784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7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560320" y="2079346"/>
            <a:ext cx="1700784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 roles struggle to attract qualified applicants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1389888"/>
            <a:ext cx="188366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63440" y="1499616"/>
            <a:ext cx="1700784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7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£500+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663440" y="2079346"/>
            <a:ext cx="1700784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 month for enterprise ATS (Greenhouse, Lever)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75120" y="1389888"/>
            <a:ext cx="188366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766560" y="1499616"/>
            <a:ext cx="1700784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7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766560" y="2079346"/>
            <a:ext cx="1700784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Lektes entry point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7066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Freemium → SaaS Pricing Model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65760" y="3090672"/>
            <a:ext cx="1901952" cy="1481328"/>
          </a:xfrm>
          <a:prstGeom prst="rect">
            <a:avLst/>
          </a:prstGeom>
          <a:solidFill>
            <a:srgbClr val="142214"/>
          </a:solidFill>
          <a:ln w="9525">
            <a:solidFill>
              <a:srgbClr val="2D7A4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75488" y="318211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9E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Tier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5488" y="3474720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£0/mo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5488" y="3822192"/>
            <a:ext cx="1682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screenings/month, 5 CVs max, basic report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468880" y="3090672"/>
            <a:ext cx="1901952" cy="1481328"/>
          </a:xfrm>
          <a:prstGeom prst="rect">
            <a:avLst/>
          </a:prstGeom>
          <a:solidFill>
            <a:srgbClr val="142214"/>
          </a:solidFill>
          <a:ln w="19050">
            <a:solidFill>
              <a:srgbClr val="38A169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578608" y="318211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Starter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578608" y="3474720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A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£29/mo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2578608" y="3822192"/>
            <a:ext cx="1682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 screenings/month, 20 CVs, full PDF report, email delivery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0" y="3090672"/>
            <a:ext cx="1901952" cy="1481328"/>
          </a:xfrm>
          <a:prstGeom prst="rect">
            <a:avLst/>
          </a:prstGeom>
          <a:solidFill>
            <a:srgbClr val="142214"/>
          </a:solidFill>
          <a:ln w="9525">
            <a:solidFill>
              <a:srgbClr val="2D7A4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681728" y="318211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Professional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681728" y="3474720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£79/mo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681728" y="3822192"/>
            <a:ext cx="1682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Unlimited screenings, API access, ATS webhook, analytics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675120" y="3090672"/>
            <a:ext cx="1901952" cy="1481328"/>
          </a:xfrm>
          <a:prstGeom prst="rect">
            <a:avLst/>
          </a:prstGeom>
          <a:solidFill>
            <a:srgbClr val="142214"/>
          </a:solidFill>
          <a:ln w="9525">
            <a:solidFill>
              <a:srgbClr val="2D7A4F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784848" y="318211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784848" y="3474720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784848" y="3822192"/>
            <a:ext cx="1682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On-premises option, SLA, custom integrations, dedicated support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2214"/>
          </a:solidFill>
          <a:ln w="12700">
            <a:solidFill>
              <a:srgbClr val="142214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36576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Talent</a:t>
            </a:r>
            <a:pPr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Mesh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943600" y="4828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lektes.nimbus-24.com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38A169">
              <a:alpha val="15000"/>
            </a:srgbClr>
          </a:solidFill>
          <a:ln w="6350">
            <a:solidFill>
              <a:srgbClr val="38A16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D7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STEPS — MARCH 17 DEADLINE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to tick off before the 19th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2743200" cy="33101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65760" y="1261872"/>
            <a:ext cx="2743200" cy="365760"/>
          </a:xfrm>
          <a:prstGeom prst="rect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12064" y="131673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2064" y="1737360"/>
            <a:ext cx="250545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C2B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☐  Add Resend API key to Render environment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C2B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☐  Test email with PDF attachment end to end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C2B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☐  Create lektes@nimbus-24.com (Google Workspace)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C2B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☐  Upload dummy CVs and run full screening test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C2B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☐  Add feedback buttons (thumbs up/down) on results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10128" y="1261872"/>
            <a:ext cx="2743200" cy="33101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310128" y="1261872"/>
            <a:ext cx="2743200" cy="365760"/>
          </a:xfrm>
          <a:prstGeom prst="rect">
            <a:avLst/>
          </a:prstGeom>
          <a:solidFill>
            <a:srgbClr val="1A2E1A"/>
          </a:solidFill>
          <a:ln w="12700">
            <a:solidFill>
              <a:srgbClr val="1A2E1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456432" y="131673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Prep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56432" y="1737360"/>
            <a:ext cx="250545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C2B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☐  Record a 2-minute screen capture walkthrough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C2B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☐  Prepare 2-3 real job descriptions to demo with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C2B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☐  Prepare 5-7 CVs that produce a strong ranked result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C2B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☐  Rehearse the 4-step flow narration out loud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C2B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☐  Test on mobile — confirm responsive layout works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54496" y="1261872"/>
            <a:ext cx="2743200" cy="33101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254496" y="1261872"/>
            <a:ext cx="2743200" cy="365760"/>
          </a:xfrm>
          <a:prstGeom prst="rect">
            <a:avLst/>
          </a:prstGeom>
          <a:solidFill>
            <a:srgbClr val="3A4A5A"/>
          </a:solidFill>
          <a:ln w="12700">
            <a:solidFill>
              <a:srgbClr val="3A4A5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0" y="131673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1737360"/>
            <a:ext cx="250545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C2B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☐  Submit Google Startup Fund application (before Mar 17)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C2B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☐  Frame LangGraph pipeline as agentic foundation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C2B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☐  Use roadmap slide as funding justification narrative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C2B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☐  Prepare 1-page executive summary (optional but strong)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C2B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☐  Verify domain DNS and SSL fully resolved on live URL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3EDE3"/>
          </a:solidFill>
          <a:ln w="12700">
            <a:solidFill>
              <a:srgbClr val="DDD5C4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6576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Talent</a:t>
            </a:r>
            <a:pPr indent="0" marL="0">
              <a:buNone/>
            </a:pPr>
            <a:r>
              <a:rPr lang="en-US" sz="1200" b="1" dirty="0">
                <a:solidFill>
                  <a:srgbClr val="2D7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0" y="4828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lektes.nimbus-24.com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943600" y="-548640"/>
            <a:ext cx="2011680" cy="2011680"/>
          </a:xfrm>
          <a:prstGeom prst="rect">
            <a:avLst/>
          </a:prstGeom>
          <a:solidFill>
            <a:srgbClr val="2D7A4F">
              <a:alpha val="35000"/>
            </a:srgbClr>
          </a:solidFill>
          <a:ln w="12700">
            <a:solidFill>
              <a:srgbClr val="2D7A4F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rot="2700000">
            <a:off x="7132320" y="731520"/>
            <a:ext cx="1097280" cy="1097280"/>
          </a:xfrm>
          <a:prstGeom prst="rect">
            <a:avLst/>
          </a:prstGeom>
          <a:solidFill>
            <a:srgbClr val="38A169">
              <a:alpha val="50000"/>
            </a:srgbClr>
          </a:solidFill>
          <a:ln w="12700">
            <a:solidFill>
              <a:srgbClr val="38A169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rot="2700000">
            <a:off x="6583680" y="3291840"/>
            <a:ext cx="2194560" cy="2194560"/>
          </a:xfrm>
          <a:prstGeom prst="rect">
            <a:avLst/>
          </a:prstGeom>
          <a:solidFill>
            <a:srgbClr val="142214"/>
          </a:solidFill>
          <a:ln w="12700">
            <a:solidFill>
              <a:srgbClr val="14221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rot="2700000">
            <a:off x="457200" y="201168"/>
            <a:ext cx="292608" cy="292608"/>
          </a:xfrm>
          <a:prstGeom prst="rect">
            <a:avLst>
              <a:gd name="adj" fmla="val 18750"/>
            </a:avLst>
          </a:prstGeom>
          <a:solidFill>
            <a:srgbClr val="38A16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96112" y="2194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Talent</a:t>
            </a:r>
            <a:pPr indent="0" marL="0">
              <a:buNone/>
            </a:pPr>
            <a:r>
              <a:rPr lang="en-US" sz="1400" b="1" dirty="0">
                <a:solidFill>
                  <a:srgbClr val="38A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7772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Hire smarter.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02920" y="141732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 better.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502920" y="2084832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38A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the right person.</a:t>
            </a:r>
            <a:endParaRPr lang="en-US" sz="4800" dirty="0"/>
          </a:p>
        </p:txBody>
      </p:sp>
      <p:sp>
        <p:nvSpPr>
          <p:cNvPr id="11" name="Shape 9"/>
          <p:cNvSpPr/>
          <p:nvPr/>
        </p:nvSpPr>
        <p:spPr>
          <a:xfrm>
            <a:off x="502920" y="2944368"/>
            <a:ext cx="5029200" cy="0"/>
          </a:xfrm>
          <a:prstGeom prst="line">
            <a:avLst/>
          </a:prstGeom>
          <a:noFill/>
          <a:ln w="12700">
            <a:solidFill>
              <a:srgbClr val="C9A96E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02920" y="30906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lektes.nimbus-24.com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4015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lektes@nimbus-24.com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7124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of Nimbus-24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TalentMesh — AI Recruitment Screening</dc:title>
  <dc:subject>PptxGenJS Presentation</dc:subject>
  <dc:creator>TalentMesh / Nimbus-24</dc:creator>
  <cp:lastModifiedBy>TalentMesh / Nimbus-24</cp:lastModifiedBy>
  <cp:revision>1</cp:revision>
  <dcterms:created xsi:type="dcterms:W3CDTF">2026-03-06T19:30:22Z</dcterms:created>
  <dcterms:modified xsi:type="dcterms:W3CDTF">2026-03-06T19:30:22Z</dcterms:modified>
</cp:coreProperties>
</file>